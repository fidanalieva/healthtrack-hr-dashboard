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custDataLst>
    <p:tags r:id="rId5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ummary" id="{3948A108-5EC2-DE39-5CA0-94B2DEB9E195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5" d="100"/>
          <a:sy n="65" d="100"/>
        </p:scale>
        <p:origin x="70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6349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Turnover rate = 42 exits divided by the average of everyone ever employed (236) and current headcount (194), which gives 19.5%. 69% of exits (29 of 42) were voluntary. Pay gap = (male average - female average) / male average. Department-level pay gaps rest on small team sizes, so treat them as a prompt for review, not a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Turnover rate = 42 exits divided by the average of everyone ever employed (236) and current headcount (194), which gives 19.5%. 69% of exits (29 of 42) were voluntary. Pay gap = (male average - female average) / male average. Department-level pay gaps rest on small team sizes, so treat them as a prompt for review, not a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MMAR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UMMARY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5382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HEALTHTRACK HR  ·  WORKFORCE ANALYTICS SUMMARY</a:t>
            </a:r>
            <a:endParaRPr lang="en-US" sz="1100" dirty="0"/>
          </a:p>
        </p:txBody>
      </p:sp>
      <p:sp>
        <p:nvSpPr>
          <p:cNvPr id="3" name="Data date"/>
          <p:cNvSpPr txBox="1"/>
          <p:nvPr/>
        </p:nvSpPr>
        <p:spPr>
          <a:xfrm>
            <a:off x="8412480" y="274320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chemeClr val="accent6"/>
                </a:solidFill>
              </a:rPr>
              <a:t>Data as of Nov 2024</a:t>
            </a:r>
            <a:endParaRPr lang="en-US" sz="1100" dirty="0"/>
          </a:p>
        </p:txBody>
      </p:sp>
      <p:sp>
        <p:nvSpPr>
          <p:cNvPr id="4" name="Title"/>
          <p:cNvSpPr txBox="1"/>
          <p:nvPr/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Headcount is growing; retention and pay equity need action</a:t>
            </a:r>
            <a:endParaRPr lang="en-US" sz="2800" dirty="0"/>
          </a:p>
        </p:txBody>
      </p:sp>
      <p:sp>
        <p:nvSpPr>
          <p:cNvPr id="5" name="KPI card 1"/>
          <p:cNvSpPr/>
          <p:nvPr/>
        </p:nvSpPr>
        <p:spPr>
          <a:xfrm>
            <a:off x="548640" y="1508760"/>
            <a:ext cx="2567864" cy="128016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KPI label 1"/>
          <p:cNvSpPr txBox="1"/>
          <p:nvPr/>
        </p:nvSpPr>
        <p:spPr>
          <a:xfrm>
            <a:off x="777240" y="1645920"/>
            <a:ext cx="2110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ACTIVE EMPLOYEES</a:t>
            </a:r>
            <a:endParaRPr lang="en-US" sz="1100" dirty="0"/>
          </a:p>
        </p:txBody>
      </p:sp>
      <p:sp>
        <p:nvSpPr>
          <p:cNvPr id="7" name="KPI value 1"/>
          <p:cNvSpPr txBox="1"/>
          <p:nvPr/>
        </p:nvSpPr>
        <p:spPr>
          <a:xfrm>
            <a:off x="777240" y="1874520"/>
            <a:ext cx="2110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tx2"/>
                </a:solidFill>
              </a:rPr>
              <a:t>194</a:t>
            </a:r>
            <a:endParaRPr lang="en-US" sz="4000" dirty="0"/>
          </a:p>
        </p:txBody>
      </p:sp>
      <p:sp>
        <p:nvSpPr>
          <p:cNvPr id="8" name="KPI note 1"/>
          <p:cNvSpPr txBox="1"/>
          <p:nvPr/>
        </p:nvSpPr>
        <p:spPr>
          <a:xfrm>
            <a:off x="777240" y="2468880"/>
            <a:ext cx="211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+12.8% vs prior year</a:t>
            </a:r>
            <a:endParaRPr lang="en-US" sz="1200" dirty="0"/>
          </a:p>
        </p:txBody>
      </p:sp>
      <p:sp>
        <p:nvSpPr>
          <p:cNvPr id="9" name="KPI card 2"/>
          <p:cNvSpPr/>
          <p:nvPr/>
        </p:nvSpPr>
        <p:spPr>
          <a:xfrm>
            <a:off x="3390824" y="1508760"/>
            <a:ext cx="2567864" cy="128016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KPI label 2"/>
          <p:cNvSpPr txBox="1"/>
          <p:nvPr/>
        </p:nvSpPr>
        <p:spPr>
          <a:xfrm>
            <a:off x="3619424" y="1645920"/>
            <a:ext cx="2110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BUDGET ATTAINMENT</a:t>
            </a:r>
            <a:endParaRPr lang="en-US" sz="1100" dirty="0"/>
          </a:p>
        </p:txBody>
      </p:sp>
      <p:sp>
        <p:nvSpPr>
          <p:cNvPr id="11" name="KPI value 2"/>
          <p:cNvSpPr txBox="1"/>
          <p:nvPr/>
        </p:nvSpPr>
        <p:spPr>
          <a:xfrm>
            <a:off x="3619424" y="1874520"/>
            <a:ext cx="2110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tx2"/>
                </a:solidFill>
              </a:rPr>
              <a:t>86%</a:t>
            </a:r>
            <a:endParaRPr lang="en-US" sz="4000" dirty="0"/>
          </a:p>
        </p:txBody>
      </p:sp>
      <p:sp>
        <p:nvSpPr>
          <p:cNvPr id="12" name="KPI note 2"/>
          <p:cNvSpPr txBox="1"/>
          <p:nvPr/>
        </p:nvSpPr>
        <p:spPr>
          <a:xfrm>
            <a:off x="3619424" y="2468880"/>
            <a:ext cx="211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0000"/>
                </a:solidFill>
              </a:rPr>
              <a:t>-14% below total budget</a:t>
            </a:r>
          </a:p>
        </p:txBody>
      </p:sp>
      <p:sp>
        <p:nvSpPr>
          <p:cNvPr id="13" name="KPI card 3"/>
          <p:cNvSpPr/>
          <p:nvPr/>
        </p:nvSpPr>
        <p:spPr>
          <a:xfrm>
            <a:off x="6233008" y="1508760"/>
            <a:ext cx="2567864" cy="128016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KPI label 3"/>
          <p:cNvSpPr txBox="1"/>
          <p:nvPr/>
        </p:nvSpPr>
        <p:spPr>
          <a:xfrm>
            <a:off x="6461608" y="1645920"/>
            <a:ext cx="2110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TURNOVER RATE</a:t>
            </a:r>
            <a:endParaRPr lang="en-US" sz="1100" dirty="0"/>
          </a:p>
        </p:txBody>
      </p:sp>
      <p:sp>
        <p:nvSpPr>
          <p:cNvPr id="15" name="KPI value 3"/>
          <p:cNvSpPr txBox="1"/>
          <p:nvPr/>
        </p:nvSpPr>
        <p:spPr>
          <a:xfrm>
            <a:off x="6461608" y="1874520"/>
            <a:ext cx="2110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tx2"/>
                </a:solidFill>
              </a:rPr>
              <a:t>19.5%</a:t>
            </a:r>
            <a:endParaRPr lang="en-US" sz="4000" dirty="0"/>
          </a:p>
        </p:txBody>
      </p:sp>
      <p:sp>
        <p:nvSpPr>
          <p:cNvPr id="16" name="KPI note 3"/>
          <p:cNvSpPr txBox="1"/>
          <p:nvPr/>
        </p:nvSpPr>
        <p:spPr>
          <a:xfrm>
            <a:off x="6461608" y="2468880"/>
            <a:ext cx="211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Above 10–15% healthy range</a:t>
            </a:r>
            <a:endParaRPr lang="en-US" sz="1200" dirty="0"/>
          </a:p>
        </p:txBody>
      </p:sp>
      <p:sp>
        <p:nvSpPr>
          <p:cNvPr id="17" name="KPI card 4"/>
          <p:cNvSpPr/>
          <p:nvPr/>
        </p:nvSpPr>
        <p:spPr>
          <a:xfrm>
            <a:off x="9075191" y="1508760"/>
            <a:ext cx="2567864" cy="128016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KPI label 4"/>
          <p:cNvSpPr txBox="1"/>
          <p:nvPr/>
        </p:nvSpPr>
        <p:spPr>
          <a:xfrm>
            <a:off x="9303791" y="1645920"/>
            <a:ext cx="2110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GENDER PAY GAP</a:t>
            </a:r>
            <a:endParaRPr lang="en-US" sz="1100" dirty="0"/>
          </a:p>
        </p:txBody>
      </p:sp>
      <p:sp>
        <p:nvSpPr>
          <p:cNvPr id="19" name="KPI value 4"/>
          <p:cNvSpPr txBox="1"/>
          <p:nvPr/>
        </p:nvSpPr>
        <p:spPr>
          <a:xfrm>
            <a:off x="9303791" y="1874520"/>
            <a:ext cx="2110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tx2"/>
                </a:solidFill>
              </a:rPr>
              <a:t>5.8%</a:t>
            </a:r>
            <a:endParaRPr lang="en-US" sz="4000" dirty="0"/>
          </a:p>
        </p:txBody>
      </p:sp>
      <p:sp>
        <p:nvSpPr>
          <p:cNvPr id="20" name="KPI note 4"/>
          <p:cNvSpPr txBox="1"/>
          <p:nvPr/>
        </p:nvSpPr>
        <p:spPr>
          <a:xfrm>
            <a:off x="9303791" y="2468880"/>
            <a:ext cx="211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Men $103K vs women $98K</a:t>
            </a:r>
            <a:endParaRPr lang="en-US" sz="1200" dirty="0"/>
          </a:p>
        </p:txBody>
      </p:sp>
      <p:sp>
        <p:nvSpPr>
          <p:cNvPr id="21" name="Insights panel"/>
          <p:cNvSpPr/>
          <p:nvPr/>
        </p:nvSpPr>
        <p:spPr>
          <a:xfrm>
            <a:off x="548640" y="3017520"/>
            <a:ext cx="6309360" cy="3337560"/>
          </a:xfrm>
          <a:prstGeom prst="roundRect">
            <a:avLst>
              <a:gd name="adj" fmla="val 2192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Insights heading"/>
          <p:cNvSpPr txBox="1"/>
          <p:nvPr/>
        </p:nvSpPr>
        <p:spPr>
          <a:xfrm>
            <a:off x="822960" y="318211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Key insights</a:t>
            </a:r>
            <a:endParaRPr lang="en-US" sz="2000" dirty="0"/>
          </a:p>
        </p:txBody>
      </p:sp>
      <p:sp>
        <p:nvSpPr>
          <p:cNvPr id="23" name="Insights text"/>
          <p:cNvSpPr txBox="1"/>
          <p:nvPr/>
        </p:nvSpPr>
        <p:spPr>
          <a:xfrm>
            <a:off x="822960" y="3639312"/>
            <a:ext cx="5760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Hiring is growing but behind budget.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194 active vs 225 budgeted (86%). Every department is under budget; Sales (−8) and Customer Success (−6) are furthest behind.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Turnover is concentrated in two teams.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Sales (28.9%) and Customer Success (29.4%) sit well above the 19.5% company rate. Work-life balance is the top exit reason.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The pay gap is above the 5% threshold.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Men average $103K vs $98K for women (5.8%). Customer Success has the lowest average salary ($70K).</a:t>
            </a:r>
            <a:endParaRPr lang="en-US" sz="1400" dirty="0"/>
          </a:p>
        </p:txBody>
      </p:sp>
      <p:sp>
        <p:nvSpPr>
          <p:cNvPr id="24" name="Recommendations panel"/>
          <p:cNvSpPr/>
          <p:nvPr/>
        </p:nvSpPr>
        <p:spPr>
          <a:xfrm>
            <a:off x="7132320" y="3017520"/>
            <a:ext cx="4510735" cy="3337560"/>
          </a:xfrm>
          <a:prstGeom prst="roundRect">
            <a:avLst>
              <a:gd name="adj" fmla="val 219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Recommendations heading"/>
          <p:cNvSpPr txBox="1"/>
          <p:nvPr/>
        </p:nvSpPr>
        <p:spPr>
          <a:xfrm>
            <a:off x="7406640" y="31821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Recommendations</a:t>
            </a:r>
            <a:endParaRPr lang="en-US" sz="2000" dirty="0"/>
          </a:p>
        </p:txBody>
      </p:sp>
      <p:sp>
        <p:nvSpPr>
          <p:cNvPr id="26" name="Rec number 1"/>
          <p:cNvSpPr/>
          <p:nvPr/>
        </p:nvSpPr>
        <p:spPr>
          <a:xfrm>
            <a:off x="7406640" y="3767328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Rec digit 1"/>
          <p:cNvSpPr txBox="1"/>
          <p:nvPr/>
        </p:nvSpPr>
        <p:spPr>
          <a:xfrm>
            <a:off x="7406640" y="3767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28" name="Rec text 1"/>
          <p:cNvSpPr txBox="1"/>
          <p:nvPr/>
        </p:nvSpPr>
        <p:spPr>
          <a:xfrm>
            <a:off x="7955280" y="37490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Review workload and pay in Sales and Customer Success to reduce exits</a:t>
            </a:r>
            <a:endParaRPr lang="en-US" sz="1400" dirty="0"/>
          </a:p>
        </p:txBody>
      </p:sp>
      <p:sp>
        <p:nvSpPr>
          <p:cNvPr id="29" name="Rec number 2"/>
          <p:cNvSpPr/>
          <p:nvPr/>
        </p:nvSpPr>
        <p:spPr>
          <a:xfrm>
            <a:off x="7406640" y="4590288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Rec digit 2"/>
          <p:cNvSpPr txBox="1"/>
          <p:nvPr/>
        </p:nvSpPr>
        <p:spPr>
          <a:xfrm>
            <a:off x="7406640" y="4590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31" name="Rec text 2"/>
          <p:cNvSpPr txBox="1"/>
          <p:nvPr/>
        </p:nvSpPr>
        <p:spPr>
          <a:xfrm>
            <a:off x="7955280" y="45720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Prioritise hiring in those two teams to close the budget gap</a:t>
            </a:r>
            <a:endParaRPr lang="en-US" sz="1400" dirty="0"/>
          </a:p>
        </p:txBody>
      </p:sp>
      <p:sp>
        <p:nvSpPr>
          <p:cNvPr id="32" name="Rec number 3"/>
          <p:cNvSpPr/>
          <p:nvPr/>
        </p:nvSpPr>
        <p:spPr>
          <a:xfrm>
            <a:off x="7406640" y="5413248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Rec digit 3"/>
          <p:cNvSpPr txBox="1"/>
          <p:nvPr/>
        </p:nvSpPr>
        <p:spPr>
          <a:xfrm>
            <a:off x="7406640" y="5413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34" name="Rec text 3"/>
          <p:cNvSpPr txBox="1"/>
          <p:nvPr/>
        </p:nvSpPr>
        <p:spPr>
          <a:xfrm>
            <a:off x="7955280" y="53949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Check pay by role and level before acting on the gap; team sizes are small</a:t>
            </a:r>
            <a:endParaRPr lang="en-US" sz="1400" dirty="0"/>
          </a:p>
        </p:txBody>
      </p:sp>
      <p:sp>
        <p:nvSpPr>
          <p:cNvPr id="35" name="Source"/>
          <p:cNvSpPr txBox="1"/>
          <p:nvPr/>
        </p:nvSpPr>
        <p:spPr>
          <a:xfrm>
            <a:off x="548640" y="6446520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Source: HealthTrack HR dataset (236 employees, 2018–2024) · Power BI report, Portfolio Project 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HEALTHTRACK HR  ·  WORKFORCE ANALYTICS SUMMARY</a:t>
            </a:r>
            <a:endParaRPr lang="en-US" sz="1100" dirty="0"/>
          </a:p>
        </p:txBody>
      </p:sp>
      <p:sp>
        <p:nvSpPr>
          <p:cNvPr id="3" name="Data date"/>
          <p:cNvSpPr txBox="1"/>
          <p:nvPr/>
        </p:nvSpPr>
        <p:spPr>
          <a:xfrm>
            <a:off x="8412480" y="274320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chemeClr val="bg2"/>
                </a:solidFill>
              </a:rPr>
              <a:t>Data as of Nov 2024</a:t>
            </a:r>
            <a:endParaRPr lang="en-US" sz="1100" dirty="0"/>
          </a:p>
        </p:txBody>
      </p:sp>
      <p:sp>
        <p:nvSpPr>
          <p:cNvPr id="4" name="Title"/>
          <p:cNvSpPr txBox="1"/>
          <p:nvPr/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Headcount is growing; retention and pay equity need action</a:t>
            </a:r>
            <a:endParaRPr lang="en-US" sz="2800" dirty="0"/>
          </a:p>
        </p:txBody>
      </p:sp>
      <p:sp>
        <p:nvSpPr>
          <p:cNvPr id="5" name="KPI label 1"/>
          <p:cNvSpPr txBox="1"/>
          <p:nvPr/>
        </p:nvSpPr>
        <p:spPr>
          <a:xfrm>
            <a:off x="548640" y="14630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2"/>
                </a:solidFill>
              </a:rPr>
              <a:t>ACTIVE EMPLOYEES</a:t>
            </a:r>
            <a:endParaRPr lang="en-US" sz="1100" dirty="0"/>
          </a:p>
        </p:txBody>
      </p:sp>
      <p:sp>
        <p:nvSpPr>
          <p:cNvPr id="6" name="KPI value 1"/>
          <p:cNvSpPr txBox="1"/>
          <p:nvPr/>
        </p:nvSpPr>
        <p:spPr>
          <a:xfrm>
            <a:off x="548640" y="171907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</a:rPr>
              <a:t>194</a:t>
            </a:r>
            <a:endParaRPr lang="en-US" sz="4400" dirty="0"/>
          </a:p>
        </p:txBody>
      </p:sp>
      <p:sp>
        <p:nvSpPr>
          <p:cNvPr id="7" name="KPI note 1"/>
          <p:cNvSpPr txBox="1"/>
          <p:nvPr/>
        </p:nvSpPr>
        <p:spPr>
          <a:xfrm>
            <a:off x="548640" y="24688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+12.8% vs prior year</a:t>
            </a:r>
            <a:endParaRPr lang="en-US" sz="1200" dirty="0"/>
          </a:p>
        </p:txBody>
      </p:sp>
      <p:sp>
        <p:nvSpPr>
          <p:cNvPr id="8" name="KPI label 2"/>
          <p:cNvSpPr txBox="1"/>
          <p:nvPr/>
        </p:nvSpPr>
        <p:spPr>
          <a:xfrm>
            <a:off x="3383280" y="14630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2"/>
                </a:solidFill>
              </a:rPr>
              <a:t>BUDGET ATTAINMENT</a:t>
            </a:r>
            <a:endParaRPr lang="en-US" sz="1100" dirty="0"/>
          </a:p>
        </p:txBody>
      </p:sp>
      <p:sp>
        <p:nvSpPr>
          <p:cNvPr id="9" name="KPI value 2"/>
          <p:cNvSpPr txBox="1"/>
          <p:nvPr/>
        </p:nvSpPr>
        <p:spPr>
          <a:xfrm>
            <a:off x="3383280" y="171907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</a:rPr>
              <a:t>86%</a:t>
            </a:r>
            <a:endParaRPr lang="en-US" sz="4400" dirty="0"/>
          </a:p>
        </p:txBody>
      </p:sp>
      <p:sp>
        <p:nvSpPr>
          <p:cNvPr id="10" name="KPI note 2"/>
          <p:cNvSpPr txBox="1"/>
          <p:nvPr/>
        </p:nvSpPr>
        <p:spPr>
          <a:xfrm>
            <a:off x="3383280" y="24688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-14% below total budget</a:t>
            </a:r>
            <a:endParaRPr lang="en-US" sz="1200" dirty="0"/>
          </a:p>
        </p:txBody>
      </p:sp>
      <p:sp>
        <p:nvSpPr>
          <p:cNvPr id="11" name="KPI label 3"/>
          <p:cNvSpPr txBox="1"/>
          <p:nvPr/>
        </p:nvSpPr>
        <p:spPr>
          <a:xfrm>
            <a:off x="6217920" y="14630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2"/>
                </a:solidFill>
              </a:rPr>
              <a:t>TURNOVER RATE</a:t>
            </a:r>
            <a:endParaRPr lang="en-US" sz="1100" dirty="0"/>
          </a:p>
        </p:txBody>
      </p:sp>
      <p:sp>
        <p:nvSpPr>
          <p:cNvPr id="12" name="KPI value 3"/>
          <p:cNvSpPr txBox="1"/>
          <p:nvPr/>
        </p:nvSpPr>
        <p:spPr>
          <a:xfrm>
            <a:off x="6217920" y="171907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</a:rPr>
              <a:t>19.5%</a:t>
            </a:r>
            <a:endParaRPr lang="en-US" sz="4400" dirty="0"/>
          </a:p>
        </p:txBody>
      </p:sp>
      <p:sp>
        <p:nvSpPr>
          <p:cNvPr id="13" name="KPI note 3"/>
          <p:cNvSpPr txBox="1"/>
          <p:nvPr/>
        </p:nvSpPr>
        <p:spPr>
          <a:xfrm>
            <a:off x="6217920" y="24688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Above 10–15% healthy range</a:t>
            </a:r>
            <a:endParaRPr lang="en-US" sz="1200" dirty="0"/>
          </a:p>
        </p:txBody>
      </p:sp>
      <p:sp>
        <p:nvSpPr>
          <p:cNvPr id="14" name="KPI label 4"/>
          <p:cNvSpPr txBox="1"/>
          <p:nvPr/>
        </p:nvSpPr>
        <p:spPr>
          <a:xfrm>
            <a:off x="9052560" y="14630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2"/>
                </a:solidFill>
              </a:rPr>
              <a:t>GENDER PAY GAP</a:t>
            </a:r>
            <a:endParaRPr lang="en-US" sz="1100" dirty="0"/>
          </a:p>
        </p:txBody>
      </p:sp>
      <p:sp>
        <p:nvSpPr>
          <p:cNvPr id="15" name="KPI value 4"/>
          <p:cNvSpPr txBox="1"/>
          <p:nvPr/>
        </p:nvSpPr>
        <p:spPr>
          <a:xfrm>
            <a:off x="9052560" y="171907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</a:rPr>
              <a:t>5.8%</a:t>
            </a:r>
            <a:endParaRPr lang="en-US" sz="4400" dirty="0"/>
          </a:p>
        </p:txBody>
      </p:sp>
      <p:sp>
        <p:nvSpPr>
          <p:cNvPr id="16" name="KPI note 4"/>
          <p:cNvSpPr txBox="1"/>
          <p:nvPr/>
        </p:nvSpPr>
        <p:spPr>
          <a:xfrm>
            <a:off x="9052560" y="24688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Men $103K vs women $98K</a:t>
            </a:r>
            <a:endParaRPr lang="en-US" sz="1200" dirty="0"/>
          </a:p>
        </p:txBody>
      </p:sp>
      <p:sp>
        <p:nvSpPr>
          <p:cNvPr id="17" name="Findings heading"/>
          <p:cNvSpPr txBox="1"/>
          <p:nvPr/>
        </p:nvSpPr>
        <p:spPr>
          <a:xfrm>
            <a:off x="1371600" y="30175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WHAT WE FOUND</a:t>
            </a:r>
            <a:endParaRPr lang="en-US" sz="1100" dirty="0"/>
          </a:p>
        </p:txBody>
      </p:sp>
      <p:sp>
        <p:nvSpPr>
          <p:cNvPr id="18" name="Actions heading"/>
          <p:cNvSpPr txBox="1"/>
          <p:nvPr/>
        </p:nvSpPr>
        <p:spPr>
          <a:xfrm>
            <a:off x="6858000" y="30175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WHAT WE RECOMMEND</a:t>
            </a:r>
            <a:endParaRPr lang="en-US" sz="1100" dirty="0"/>
          </a:p>
        </p:txBody>
      </p:sp>
      <p:sp>
        <p:nvSpPr>
          <p:cNvPr id="19" name="Row 1"/>
          <p:cNvSpPr/>
          <p:nvPr/>
        </p:nvSpPr>
        <p:spPr>
          <a:xfrm>
            <a:off x="548640" y="3383280"/>
            <a:ext cx="11094415" cy="914400"/>
          </a:xfrm>
          <a:prstGeom prst="roundRect">
            <a:avLst>
              <a:gd name="adj" fmla="val 8000"/>
            </a:avLst>
          </a:prstGeom>
          <a:solidFill>
            <a:schemeClr val="bg1">
              <a:alpha val="8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Row number 1"/>
          <p:cNvSpPr/>
          <p:nvPr/>
        </p:nvSpPr>
        <p:spPr>
          <a:xfrm>
            <a:off x="731520" y="3657600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Row digit 1"/>
          <p:cNvSpPr txBox="1"/>
          <p:nvPr/>
        </p:nvSpPr>
        <p:spPr>
          <a:xfrm>
            <a:off x="731520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22" name="Finding 1"/>
          <p:cNvSpPr txBox="1"/>
          <p:nvPr/>
        </p:nvSpPr>
        <p:spPr>
          <a:xfrm>
            <a:off x="1371600" y="3456432"/>
            <a:ext cx="4663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Hiring is behind budget.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194 active vs 225 budgeted (86%); Sales (−8) and Customer Success (−6) are furthest behind.</a:t>
            </a:r>
            <a:endParaRPr lang="en-US" sz="1400" dirty="0"/>
          </a:p>
        </p:txBody>
      </p:sp>
      <p:sp>
        <p:nvSpPr>
          <p:cNvPr id="23" name="Arrow 1"/>
          <p:cNvSpPr txBox="1"/>
          <p:nvPr/>
        </p:nvSpPr>
        <p:spPr>
          <a:xfrm>
            <a:off x="6172200" y="35661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3"/>
                </a:solidFill>
              </a:rPr>
              <a:t>→</a:t>
            </a:r>
            <a:endParaRPr lang="en-US" sz="2400" dirty="0"/>
          </a:p>
        </p:txBody>
      </p:sp>
      <p:sp>
        <p:nvSpPr>
          <p:cNvPr id="24" name="Recommendation 1"/>
          <p:cNvSpPr txBox="1"/>
          <p:nvPr/>
        </p:nvSpPr>
        <p:spPr>
          <a:xfrm>
            <a:off x="6858000" y="3456432"/>
            <a:ext cx="4572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Prioritise hiring in Sales and Customer Success to close the budget gap.</a:t>
            </a:r>
            <a:endParaRPr lang="en-US" sz="1400" dirty="0"/>
          </a:p>
        </p:txBody>
      </p:sp>
      <p:sp>
        <p:nvSpPr>
          <p:cNvPr id="25" name="Row 2"/>
          <p:cNvSpPr/>
          <p:nvPr/>
        </p:nvSpPr>
        <p:spPr>
          <a:xfrm>
            <a:off x="548640" y="4389120"/>
            <a:ext cx="11094415" cy="914400"/>
          </a:xfrm>
          <a:prstGeom prst="roundRect">
            <a:avLst>
              <a:gd name="adj" fmla="val 8000"/>
            </a:avLst>
          </a:prstGeom>
          <a:solidFill>
            <a:schemeClr val="bg1">
              <a:alpha val="8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Row number 2"/>
          <p:cNvSpPr/>
          <p:nvPr/>
        </p:nvSpPr>
        <p:spPr>
          <a:xfrm>
            <a:off x="731520" y="4663440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Row digit 2"/>
          <p:cNvSpPr txBox="1"/>
          <p:nvPr/>
        </p:nvSpPr>
        <p:spPr>
          <a:xfrm>
            <a:off x="731520" y="4663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28" name="Finding 2"/>
          <p:cNvSpPr txBox="1"/>
          <p:nvPr/>
        </p:nvSpPr>
        <p:spPr>
          <a:xfrm>
            <a:off x="1371600" y="4462272"/>
            <a:ext cx="4663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Turnover is concentrated in two teams.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Sales (28.9%) and Customer Success (29.4%) are well above the 19.5% company rate.</a:t>
            </a:r>
            <a:endParaRPr lang="en-US" sz="1400" dirty="0"/>
          </a:p>
        </p:txBody>
      </p:sp>
      <p:sp>
        <p:nvSpPr>
          <p:cNvPr id="29" name="Arrow 2"/>
          <p:cNvSpPr txBox="1"/>
          <p:nvPr/>
        </p:nvSpPr>
        <p:spPr>
          <a:xfrm>
            <a:off x="6172200" y="45720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3"/>
                </a:solidFill>
              </a:rPr>
              <a:t>→</a:t>
            </a:r>
            <a:endParaRPr lang="en-US" sz="2400" dirty="0"/>
          </a:p>
        </p:txBody>
      </p:sp>
      <p:sp>
        <p:nvSpPr>
          <p:cNvPr id="30" name="Recommendation 2"/>
          <p:cNvSpPr txBox="1"/>
          <p:nvPr/>
        </p:nvSpPr>
        <p:spPr>
          <a:xfrm>
            <a:off x="6858000" y="4462272"/>
            <a:ext cx="4572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Review workload and pay in those teams to reduce exits; work-life balance is the top exit reason.</a:t>
            </a:r>
            <a:endParaRPr lang="en-US" sz="1400" dirty="0"/>
          </a:p>
        </p:txBody>
      </p:sp>
      <p:sp>
        <p:nvSpPr>
          <p:cNvPr id="31" name="Row 3"/>
          <p:cNvSpPr/>
          <p:nvPr/>
        </p:nvSpPr>
        <p:spPr>
          <a:xfrm>
            <a:off x="548640" y="5394960"/>
            <a:ext cx="11094415" cy="914400"/>
          </a:xfrm>
          <a:prstGeom prst="roundRect">
            <a:avLst>
              <a:gd name="adj" fmla="val 8000"/>
            </a:avLst>
          </a:prstGeom>
          <a:solidFill>
            <a:schemeClr val="bg1">
              <a:alpha val="8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Row number 3"/>
          <p:cNvSpPr/>
          <p:nvPr/>
        </p:nvSpPr>
        <p:spPr>
          <a:xfrm>
            <a:off x="731520" y="5669280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Row digit 3"/>
          <p:cNvSpPr txBox="1"/>
          <p:nvPr/>
        </p:nvSpPr>
        <p:spPr>
          <a:xfrm>
            <a:off x="731520" y="5669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34" name="Finding 3"/>
          <p:cNvSpPr txBox="1"/>
          <p:nvPr/>
        </p:nvSpPr>
        <p:spPr>
          <a:xfrm>
            <a:off x="1371600" y="5468112"/>
            <a:ext cx="4663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The pay gap is above the 5% threshold.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Men average $103K vs $98K for women (5.8%); Customer Success has the lowest pay ($70K).</a:t>
            </a:r>
            <a:endParaRPr lang="en-US" sz="1400" dirty="0"/>
          </a:p>
        </p:txBody>
      </p:sp>
      <p:sp>
        <p:nvSpPr>
          <p:cNvPr id="35" name="Arrow 3"/>
          <p:cNvSpPr txBox="1"/>
          <p:nvPr/>
        </p:nvSpPr>
        <p:spPr>
          <a:xfrm>
            <a:off x="6172200" y="5577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3"/>
                </a:solidFill>
              </a:rPr>
              <a:t>→</a:t>
            </a:r>
            <a:endParaRPr lang="en-US" sz="2400" dirty="0"/>
          </a:p>
        </p:txBody>
      </p:sp>
      <p:sp>
        <p:nvSpPr>
          <p:cNvPr id="36" name="Recommendation 3"/>
          <p:cNvSpPr txBox="1"/>
          <p:nvPr/>
        </p:nvSpPr>
        <p:spPr>
          <a:xfrm>
            <a:off x="6858000" y="5468112"/>
            <a:ext cx="4572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Check pay by role and level before acting; team sizes are small.</a:t>
            </a:r>
            <a:endParaRPr lang="en-US" sz="1400" dirty="0"/>
          </a:p>
        </p:txBody>
      </p:sp>
      <p:sp>
        <p:nvSpPr>
          <p:cNvPr id="37" name="Source"/>
          <p:cNvSpPr txBox="1"/>
          <p:nvPr/>
        </p:nvSpPr>
        <p:spPr>
          <a:xfrm>
            <a:off x="548640" y="6446520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Source: HealthTrack HR dataset (236 employees, 2018–2024) · Power BI report, Portfolio Project 2</a:t>
            </a:r>
            <a:endParaRPr lang="en-US" sz="10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ATIONID" val="09c287c6-9b4e-468e-8fe0-3bbc5c144742"/>
</p:tagLst>
</file>

<file path=ppt/theme/theme1.xml><?xml version="1.0" encoding="utf-8"?>
<a:theme xmlns:a="http://schemas.openxmlformats.org/drawingml/2006/main" name="HealthTrack">
  <a:themeElements>
    <a:clrScheme name="HealthTrack">
      <a:dk1>
        <a:srgbClr val="1C1C1C"/>
      </a:dk1>
      <a:lt1>
        <a:srgbClr val="FFFFFF"/>
      </a:lt1>
      <a:dk2>
        <a:srgbClr val="1A3C5E"/>
      </a:dk2>
      <a:lt2>
        <a:srgbClr val="F3F5F7"/>
      </a:lt2>
      <a:accent1>
        <a:srgbClr val="1A3C5E"/>
      </a:accent1>
      <a:accent2>
        <a:srgbClr val="006D77"/>
      </a:accent2>
      <a:accent3>
        <a:srgbClr val="F4A614"/>
      </a:accent3>
      <a:accent4>
        <a:srgbClr val="2E7D32"/>
      </a:accent4>
      <a:accent5>
        <a:srgbClr val="C62828"/>
      </a:accent5>
      <a:accent6>
        <a:srgbClr val="607D8B"/>
      </a:accent6>
      <a:hlink>
        <a:srgbClr val="006D77"/>
      </a:hlink>
      <a:folHlink>
        <a:srgbClr val="607D8B"/>
      </a:folHlink>
    </a:clrScheme>
    <a:fontScheme name="HealthTrack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602</Words>
  <Application>Microsoft Office PowerPoint</Application>
  <PresentationFormat>Widescreen</PresentationFormat>
  <Paragraphs>67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Arial</vt:lpstr>
      <vt:lpstr>HealthTrack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HealthTrack HR - Workforce Summary</dc:title>
  <dc:subject>PptxGenJS Presentation</dc:subject>
  <dc:creator>PptxGenJS</dc:creator>
  <cp:lastModifiedBy>Fidan Aliyeva</cp:lastModifiedBy>
  <cp:revision>2</cp:revision>
  <dcterms:created xsi:type="dcterms:W3CDTF">2026-10-28T11:08:49Z</dcterms:created>
  <dcterms:modified xsi:type="dcterms:W3CDTF">2026-10-28T14:28:08Z</dcterms:modified>
</cp:coreProperties>
</file>